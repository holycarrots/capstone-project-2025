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57" r:id="rId3"/>
    <p:sldId id="277" r:id="rId4"/>
    <p:sldId id="278" r:id="rId5"/>
    <p:sldId id="269" r:id="rId6"/>
    <p:sldId id="280" r:id="rId7"/>
    <p:sldId id="281" r:id="rId8"/>
    <p:sldId id="283" r:id="rId9"/>
    <p:sldId id="284" r:id="rId10"/>
    <p:sldId id="268" r:id="rId11"/>
    <p:sldId id="270"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4BB754-974D-452C-A20E-DE47DCAF5B3B}" v="64" dt="2025-11-26T06:37:54.669"/>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8" d="100"/>
          <a:sy n="88" d="100"/>
        </p:scale>
        <p:origin x="7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3601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5617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0506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57794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2174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668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GB"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Udyog </a:t>
            </a:r>
            <a:r>
              <a:rPr lang="en-GB" sz="2400" dirty="0" err="1">
                <a:solidFill>
                  <a:schemeClr val="tx1"/>
                </a:solidFill>
                <a:latin typeface="Times New Roman" panose="02020603050405020304" pitchFamily="18" charset="0"/>
                <a:ea typeface="Cambria" panose="02040503050406030204" pitchFamily="18" charset="0"/>
                <a:cs typeface="Times New Roman" panose="02020603050405020304" pitchFamily="18" charset="0"/>
              </a:rPr>
              <a:t>Saarthi</a:t>
            </a:r>
            <a:r>
              <a:rPr lang="en-GB"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 A Progressive Web Application for Accessible Job Guidance for Adults with Disabilities</a:t>
            </a:r>
            <a:endParaRPr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Times New Roman" panose="02020603050405020304" pitchFamily="18" charset="0"/>
                <a:ea typeface="Cambria" panose="02040503050406030204" pitchFamily="18" charset="0"/>
                <a:cs typeface="Times New Roman" panose="02020603050405020304" pitchFamily="18" charset="0"/>
              </a:rPr>
              <a:t>Batch Number: CCS_09</a:t>
            </a:r>
            <a:endParaRPr sz="18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Under the Supervision of,</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Dr. Sridevi S</a:t>
            </a: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graphicFrame>
        <p:nvGraphicFramePr>
          <p:cNvPr id="89" name="Google Shape;89;p13"/>
          <p:cNvGraphicFramePr/>
          <p:nvPr>
            <p:extLst>
              <p:ext uri="{D42A27DB-BD31-4B8C-83A1-F6EECF244321}">
                <p14:modId xmlns:p14="http://schemas.microsoft.com/office/powerpoint/2010/main" val="943281344"/>
              </p:ext>
            </p:extLst>
          </p:nvPr>
        </p:nvGraphicFramePr>
        <p:xfrm>
          <a:off x="553346" y="2721840"/>
          <a:ext cx="5756013" cy="1463080"/>
        </p:xfrm>
        <a:graphic>
          <a:graphicData uri="http://schemas.openxmlformats.org/drawingml/2006/table">
            <a:tbl>
              <a:tblPr firstRow="1" bandRow="1">
                <a:noFill/>
                <a:tableStyleId>{57690726-49DA-4552-BDEB-330DD8EA8BD9}</a:tableStyleId>
              </a:tblPr>
              <a:tblGrid>
                <a:gridCol w="1971815">
                  <a:extLst>
                    <a:ext uri="{9D8B030D-6E8A-4147-A177-3AD203B41FA5}">
                      <a16:colId xmlns:a16="http://schemas.microsoft.com/office/drawing/2014/main" val="20000"/>
                    </a:ext>
                  </a:extLst>
                </a:gridCol>
                <a:gridCol w="3784198">
                  <a:extLst>
                    <a:ext uri="{9D8B030D-6E8A-4147-A177-3AD203B41FA5}">
                      <a16:colId xmlns:a16="http://schemas.microsoft.com/office/drawing/2014/main" val="20001"/>
                    </a:ext>
                  </a:extLst>
                </a:gridCol>
              </a:tblGrid>
              <a:tr h="30201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02010">
                <a:tc>
                  <a:txBody>
                    <a:bodyPr/>
                    <a:lstStyle/>
                    <a:p>
                      <a:pPr marL="0" marR="0" lvl="0" indent="0" algn="ctr" rtl="0">
                        <a:spcBef>
                          <a:spcPts val="0"/>
                        </a:spcBef>
                        <a:spcAft>
                          <a:spcPts val="0"/>
                        </a:spcAft>
                        <a:buFont typeface="+mj-lt"/>
                        <a:buNone/>
                      </a:pPr>
                      <a:r>
                        <a:rPr lang="en-US" sz="1800" u="none" strike="noStrike" cap="none" dirty="0"/>
                        <a:t>20221CCS0040</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US" sz="1800" u="none" strike="noStrike" cap="none" dirty="0"/>
                        <a:t>Annie Mary Joseph</a:t>
                      </a:r>
                      <a:endParaRPr sz="1800" u="none" strike="noStrike" cap="none"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02010">
                <a:tc>
                  <a:txBody>
                    <a:bodyPr/>
                    <a:lstStyle/>
                    <a:p>
                      <a:pPr marL="0" marR="0" lvl="0" indent="0" algn="ctr" rtl="0">
                        <a:spcBef>
                          <a:spcPts val="0"/>
                        </a:spcBef>
                        <a:spcAft>
                          <a:spcPts val="0"/>
                        </a:spcAft>
                        <a:buNone/>
                      </a:pPr>
                      <a:r>
                        <a:rPr lang="en-US" sz="1800" u="none" strike="noStrike" cap="none" dirty="0"/>
                        <a:t>20221CCS0044</a:t>
                      </a:r>
                      <a:endParaRPr sz="1800" u="none" strike="noStrike" cap="none"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US" sz="1800" u="none" strike="noStrike" cap="none" dirty="0" err="1"/>
                        <a:t>Jozach</a:t>
                      </a:r>
                      <a:r>
                        <a:rPr lang="en-US" sz="1800" u="none" strike="noStrike" cap="none" dirty="0"/>
                        <a:t> Rajan Samual</a:t>
                      </a:r>
                      <a:endParaRPr sz="1800" u="none" strike="noStrike" cap="none"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02010">
                <a:tc>
                  <a:txBody>
                    <a:bodyPr/>
                    <a:lstStyle/>
                    <a:p>
                      <a:pPr marL="0" marR="0" lvl="0" indent="0" algn="ctr" rtl="0">
                        <a:spcBef>
                          <a:spcPts val="0"/>
                        </a:spcBef>
                        <a:spcAft>
                          <a:spcPts val="0"/>
                        </a:spcAft>
                        <a:buNone/>
                      </a:pPr>
                      <a:r>
                        <a:rPr lang="en-US" sz="1800" u="none" strike="noStrike" cap="none" dirty="0"/>
                        <a:t>20221CCS0045</a:t>
                      </a:r>
                      <a:endParaRPr sz="1800" u="none" strike="noStrike" cap="none"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rtl="0">
                        <a:spcBef>
                          <a:spcPts val="0"/>
                        </a:spcBef>
                        <a:spcAft>
                          <a:spcPts val="0"/>
                        </a:spcAft>
                        <a:buNone/>
                      </a:pPr>
                      <a:r>
                        <a:rPr lang="en-US" sz="1800" u="none" strike="noStrike" cap="none" dirty="0"/>
                        <a:t>Khushi Yadav</a:t>
                      </a:r>
                      <a:endParaRPr sz="1800" u="none" strike="noStrike" cap="none" dirty="0"/>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CSE7101-</a:t>
            </a: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Capstone Project</a:t>
            </a:r>
            <a:endParaRPr sz="18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Review-5</a:t>
            </a:r>
            <a:endParaRPr sz="18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err="1">
                <a:solidFill>
                  <a:schemeClr val="accent1"/>
                </a:solidFill>
                <a:latin typeface="Cambria" panose="02040503050406030204" pitchFamily="18" charset="0"/>
                <a:ea typeface="Cambria" panose="02040503050406030204" pitchFamily="18" charset="0"/>
                <a:cs typeface="Verdana"/>
                <a:sym typeface="Verdana"/>
              </a:rPr>
              <a:t>B.Tech</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Computer Science and Engineering ( Cyber Security)</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dirty="0">
                <a:solidFill>
                  <a:schemeClr val="tx1"/>
                </a:solidFill>
                <a:latin typeface="Cambria" panose="02040503050406030204" pitchFamily="18" charset="0"/>
                <a:ea typeface="Cambria" panose="02040503050406030204" pitchFamily="18" charset="0"/>
              </a:rPr>
              <a:t>Dr. Anandaraj S.P</a:t>
            </a:r>
            <a:br>
              <a:rPr lang="en-US" sz="1800" dirty="0"/>
            </a:b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a:solidFill>
                  <a:schemeClr val="tx1"/>
                </a:solidFill>
                <a:latin typeface="Cambria" panose="02040503050406030204" pitchFamily="18" charset="0"/>
                <a:ea typeface="Cambria" panose="02040503050406030204" pitchFamily="18" charset="0"/>
              </a:rPr>
              <a:t>Dr. </a:t>
            </a:r>
            <a:r>
              <a:rPr lang="en-US" sz="1800" b="1" dirty="0" err="1">
                <a:solidFill>
                  <a:schemeClr val="tx1"/>
                </a:solidFill>
                <a:latin typeface="Cambria" panose="02040503050406030204" pitchFamily="18" charset="0"/>
                <a:ea typeface="Cambria" panose="02040503050406030204" pitchFamily="18" charset="0"/>
              </a:rPr>
              <a:t>Sharmasth</a:t>
            </a:r>
            <a:r>
              <a:rPr lang="en-US" sz="1800" b="1" dirty="0">
                <a:solidFill>
                  <a:schemeClr val="tx1"/>
                </a:solidFill>
                <a:latin typeface="Cambria" panose="02040503050406030204" pitchFamily="18" charset="0"/>
                <a:ea typeface="Cambria" panose="02040503050406030204" pitchFamily="18" charset="0"/>
              </a:rPr>
              <a:t> Vali </a:t>
            </a:r>
            <a:br>
              <a:rPr lang="en-US" sz="1800" dirty="0"/>
            </a:b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Times New Roman" panose="02020603050405020304" pitchFamily="18" charset="0"/>
                <a:ea typeface="Cambria" panose="02040503050406030204" pitchFamily="18" charset="0"/>
                <a:cs typeface="Times New Roman" panose="02020603050405020304" pitchFamily="18" charset="0"/>
              </a:rPr>
              <a:t>Content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7500" lnSpcReduction="20000"/>
          </a:bodyPr>
          <a:lstStyle/>
          <a:p>
            <a:pPr marL="495300" lvl="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Introduction</a:t>
            </a:r>
          </a:p>
          <a:p>
            <a:pPr marL="495300" lvl="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Literature Survey</a:t>
            </a:r>
          </a:p>
          <a:p>
            <a:pPr marL="49530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95300" lvl="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System Model</a:t>
            </a:r>
          </a:p>
          <a:p>
            <a:pPr marL="495300" lvl="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Result</a:t>
            </a:r>
          </a:p>
          <a:p>
            <a:pPr marL="495300" lvl="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Conclusion</a:t>
            </a:r>
          </a:p>
          <a:p>
            <a:pPr marL="495300" lvl="0" indent="-342900" algn="just">
              <a:lnSpc>
                <a:spcPct val="20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a:latin typeface="Cambria" panose="02040503050406030204" pitchFamily="18" charset="0"/>
                <a:ea typeface="Cambria" panose="02040503050406030204" pitchFamily="18" charset="0"/>
              </a:rPr>
              <a:t>Introduction</a:t>
            </a:r>
            <a:endParaRPr lang="en-US"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153886"/>
            <a:ext cx="10668000" cy="4847771"/>
          </a:xfrm>
          <a:prstGeom prst="rect">
            <a:avLst/>
          </a:prstGeom>
          <a:noFill/>
          <a:ln>
            <a:noFill/>
          </a:ln>
        </p:spPr>
        <p:txBody>
          <a:bodyPr spcFirstLastPara="1" wrap="square" lIns="91425" tIns="45700" rIns="91425" bIns="45700" anchor="t" anchorCtr="0">
            <a:noAutofit/>
          </a:bodyPr>
          <a:lstStyle/>
          <a:p>
            <a:pPr marL="76200" indent="0" algn="just">
              <a:buNone/>
            </a:pPr>
            <a:r>
              <a:rPr lang="en-GB" sz="1400" dirty="0">
                <a:latin typeface="Times New Roman" panose="02020603050405020304" pitchFamily="18" charset="0"/>
                <a:cs typeface="Times New Roman" panose="02020603050405020304" pitchFamily="18" charset="0"/>
              </a:rPr>
              <a:t>Employment is a key element of independence and social participation for adults with Intellectual Disabilities (ID). Although the Government of India provides a 4 percent reservation in public sector jobs through the Rights of Persons with Disabilities Act 2016, many eligible individuals are unable to access these opportunities. The primary barrier is not the availability of jobs, but the complexity of accessing, understanding, and applying for them through existing government platforms.</a:t>
            </a:r>
          </a:p>
          <a:p>
            <a:pPr marL="76200" indent="0" algn="just">
              <a:buNone/>
            </a:pPr>
            <a:endParaRPr lang="en-US" sz="1400" dirty="0">
              <a:latin typeface="Times New Roman" panose="02020603050405020304" pitchFamily="18" charset="0"/>
              <a:cs typeface="Times New Roman" panose="02020603050405020304" pitchFamily="18" charset="0"/>
            </a:endParaRPr>
          </a:p>
          <a:p>
            <a:pPr marL="76200" indent="0" algn="just">
              <a:buNone/>
            </a:pPr>
            <a:r>
              <a:rPr lang="en-GB" sz="1400" dirty="0">
                <a:latin typeface="Times New Roman" panose="02020603050405020304" pitchFamily="18" charset="0"/>
                <a:cs typeface="Times New Roman" panose="02020603050405020304" pitchFamily="18" charset="0"/>
              </a:rPr>
              <a:t>This project introduces Udyog </a:t>
            </a:r>
            <a:r>
              <a:rPr lang="en-GB" sz="1400" dirty="0" err="1">
                <a:latin typeface="Times New Roman" panose="02020603050405020304" pitchFamily="18" charset="0"/>
                <a:cs typeface="Times New Roman" panose="02020603050405020304" pitchFamily="18" charset="0"/>
              </a:rPr>
              <a:t>Saarthi</a:t>
            </a:r>
            <a:r>
              <a:rPr lang="en-GB" sz="1400" dirty="0">
                <a:latin typeface="Times New Roman" panose="02020603050405020304" pitchFamily="18" charset="0"/>
                <a:cs typeface="Times New Roman" panose="02020603050405020304" pitchFamily="18" charset="0"/>
              </a:rPr>
              <a:t>, a Progressive Web Application designed to centralize government job notifications and convert them into simple, easy-to-understand formats for </a:t>
            </a:r>
            <a:r>
              <a:rPr lang="en-GB" sz="1400" dirty="0" err="1">
                <a:latin typeface="Times New Roman" panose="02020603050405020304" pitchFamily="18" charset="0"/>
                <a:cs typeface="Times New Roman" panose="02020603050405020304" pitchFamily="18" charset="0"/>
              </a:rPr>
              <a:t>PwDs</a:t>
            </a:r>
            <a:r>
              <a:rPr lang="en-GB" sz="1400" dirty="0">
                <a:latin typeface="Times New Roman" panose="02020603050405020304" pitchFamily="18" charset="0"/>
                <a:cs typeface="Times New Roman" panose="02020603050405020304" pitchFamily="18" charset="0"/>
              </a:rPr>
              <a:t> and their caregivers, addressing challenges created by scattered portals and text-heavy job postings. The system provides accessibility-first job discovery and guidance through:</a:t>
            </a:r>
          </a:p>
          <a:p>
            <a:pPr marL="76200" indent="0" algn="just">
              <a:buNone/>
            </a:pPr>
            <a:endParaRPr lang="en-GB" sz="1400" dirty="0">
              <a:latin typeface="Times New Roman" panose="02020603050405020304" pitchFamily="18" charset="0"/>
              <a:cs typeface="Times New Roman" panose="02020603050405020304" pitchFamily="18" charset="0"/>
            </a:endParaRPr>
          </a:p>
          <a:p>
            <a:pPr algn="just"/>
            <a:r>
              <a:rPr lang="en-GB" sz="1400" dirty="0">
                <a:latin typeface="Times New Roman" panose="02020603050405020304" pitchFamily="18" charset="0"/>
                <a:cs typeface="Times New Roman" panose="02020603050405020304" pitchFamily="18" charset="0"/>
              </a:rPr>
              <a:t>AI-based simplified language conversion for complex notifications</a:t>
            </a:r>
          </a:p>
          <a:p>
            <a:pPr algn="just"/>
            <a:r>
              <a:rPr lang="en-GB" sz="1400" dirty="0">
                <a:latin typeface="Times New Roman" panose="02020603050405020304" pitchFamily="18" charset="0"/>
                <a:cs typeface="Times New Roman" panose="02020603050405020304" pitchFamily="18" charset="0"/>
              </a:rPr>
              <a:t>Automated collection of government job updates in one place</a:t>
            </a:r>
          </a:p>
          <a:p>
            <a:pPr algn="just"/>
            <a:r>
              <a:rPr lang="en-GB" sz="1400" dirty="0">
                <a:latin typeface="Times New Roman" panose="02020603050405020304" pitchFamily="18" charset="0"/>
                <a:cs typeface="Times New Roman" panose="02020603050405020304" pitchFamily="18" charset="0"/>
              </a:rPr>
              <a:t>Accessibility features such as large buttons, high-contrast modes, and text-to-speech</a:t>
            </a:r>
          </a:p>
          <a:p>
            <a:pPr algn="just"/>
            <a:r>
              <a:rPr lang="en-GB" sz="1400" dirty="0">
                <a:latin typeface="Times New Roman" panose="02020603050405020304" pitchFamily="18" charset="0"/>
                <a:cs typeface="Times New Roman" panose="02020603050405020304" pitchFamily="18" charset="0"/>
              </a:rPr>
              <a:t>Separate modules for both </a:t>
            </a:r>
            <a:r>
              <a:rPr lang="en-GB" sz="1400" dirty="0" err="1">
                <a:latin typeface="Times New Roman" panose="02020603050405020304" pitchFamily="18" charset="0"/>
                <a:cs typeface="Times New Roman" panose="02020603050405020304" pitchFamily="18" charset="0"/>
              </a:rPr>
              <a:t>PwDs</a:t>
            </a:r>
            <a:r>
              <a:rPr lang="en-GB" sz="1400" dirty="0">
                <a:latin typeface="Times New Roman" panose="02020603050405020304" pitchFamily="18" charset="0"/>
                <a:cs typeface="Times New Roman" panose="02020603050405020304" pitchFamily="18" charset="0"/>
              </a:rPr>
              <a:t> and caregivers with guided workflows</a:t>
            </a:r>
          </a:p>
          <a:p>
            <a:pPr marL="76200" indent="0" algn="just">
              <a:buNone/>
            </a:pPr>
            <a:endParaRPr lang="en-US" sz="1400" dirty="0">
              <a:latin typeface="Times New Roman" panose="02020603050405020304" pitchFamily="18" charset="0"/>
              <a:cs typeface="Times New Roman" panose="02020603050405020304" pitchFamily="18" charset="0"/>
            </a:endParaRPr>
          </a:p>
          <a:p>
            <a:pPr marL="76200" indent="0" algn="just">
              <a:buNone/>
            </a:pPr>
            <a:r>
              <a:rPr lang="en-GB" sz="1400" dirty="0">
                <a:latin typeface="Times New Roman" panose="02020603050405020304" pitchFamily="18" charset="0"/>
                <a:cs typeface="Times New Roman" panose="02020603050405020304" pitchFamily="18" charset="0"/>
              </a:rPr>
              <a:t>Users can easily browse available job listings, understand eligibility in plain language, and receive structured assistance for application steps. The platform reduces cognitive load, improves comprehension, and helps ensure that reservation opportunities become practically reachable rather than remaining only policy on paper.</a:t>
            </a:r>
          </a:p>
          <a:p>
            <a:pPr marL="76200" indent="0" algn="just">
              <a:buNone/>
            </a:pPr>
            <a:r>
              <a:rPr lang="en-GB" sz="1400" dirty="0">
                <a:latin typeface="Times New Roman" panose="02020603050405020304" pitchFamily="18" charset="0"/>
                <a:cs typeface="Times New Roman" panose="02020603050405020304" pitchFamily="18" charset="0"/>
              </a:rPr>
              <a:t>The ultimate goal is to create an inclusive digital ecosystem that empowers adults with ID toward meaningful employment participation.</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3150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Cambria" panose="02040503050406030204" pitchFamily="18" charset="0"/>
                <a:ea typeface="Cambria" panose="02040503050406030204" pitchFamily="18" charset="0"/>
              </a:rPr>
              <a:t>Literature Survey</a:t>
            </a:r>
          </a:p>
        </p:txBody>
      </p:sp>
      <p:graphicFrame>
        <p:nvGraphicFramePr>
          <p:cNvPr id="2" name="Table 1">
            <a:extLst>
              <a:ext uri="{FF2B5EF4-FFF2-40B4-BE49-F238E27FC236}">
                <a16:creationId xmlns:a16="http://schemas.microsoft.com/office/drawing/2014/main" id="{0D475842-BB08-C7A7-841E-3DB83BF5696E}"/>
              </a:ext>
            </a:extLst>
          </p:cNvPr>
          <p:cNvGraphicFramePr>
            <a:graphicFrameLocks noGrp="1"/>
          </p:cNvGraphicFramePr>
          <p:nvPr>
            <p:extLst>
              <p:ext uri="{D42A27DB-BD31-4B8C-83A1-F6EECF244321}">
                <p14:modId xmlns:p14="http://schemas.microsoft.com/office/powerpoint/2010/main" val="4092438120"/>
              </p:ext>
            </p:extLst>
          </p:nvPr>
        </p:nvGraphicFramePr>
        <p:xfrm>
          <a:off x="812800" y="1045048"/>
          <a:ext cx="10668002" cy="4952999"/>
        </p:xfrm>
        <a:graphic>
          <a:graphicData uri="http://schemas.openxmlformats.org/drawingml/2006/table">
            <a:tbl>
              <a:tblPr/>
              <a:tblGrid>
                <a:gridCol w="660402">
                  <a:extLst>
                    <a:ext uri="{9D8B030D-6E8A-4147-A177-3AD203B41FA5}">
                      <a16:colId xmlns:a16="http://schemas.microsoft.com/office/drawing/2014/main" val="37046247"/>
                    </a:ext>
                  </a:extLst>
                </a:gridCol>
                <a:gridCol w="3266368">
                  <a:extLst>
                    <a:ext uri="{9D8B030D-6E8A-4147-A177-3AD203B41FA5}">
                      <a16:colId xmlns:a16="http://schemas.microsoft.com/office/drawing/2014/main" val="262061789"/>
                    </a:ext>
                  </a:extLst>
                </a:gridCol>
                <a:gridCol w="1685308">
                  <a:extLst>
                    <a:ext uri="{9D8B030D-6E8A-4147-A177-3AD203B41FA5}">
                      <a16:colId xmlns:a16="http://schemas.microsoft.com/office/drawing/2014/main" val="1610809833"/>
                    </a:ext>
                  </a:extLst>
                </a:gridCol>
                <a:gridCol w="1685308">
                  <a:extLst>
                    <a:ext uri="{9D8B030D-6E8A-4147-A177-3AD203B41FA5}">
                      <a16:colId xmlns:a16="http://schemas.microsoft.com/office/drawing/2014/main" val="1670942735"/>
                    </a:ext>
                  </a:extLst>
                </a:gridCol>
                <a:gridCol w="1685308">
                  <a:extLst>
                    <a:ext uri="{9D8B030D-6E8A-4147-A177-3AD203B41FA5}">
                      <a16:colId xmlns:a16="http://schemas.microsoft.com/office/drawing/2014/main" val="2017566140"/>
                    </a:ext>
                  </a:extLst>
                </a:gridCol>
                <a:gridCol w="1685308">
                  <a:extLst>
                    <a:ext uri="{9D8B030D-6E8A-4147-A177-3AD203B41FA5}">
                      <a16:colId xmlns:a16="http://schemas.microsoft.com/office/drawing/2014/main" val="2964835367"/>
                    </a:ext>
                  </a:extLst>
                </a:gridCol>
              </a:tblGrid>
              <a:tr h="341632">
                <a:tc>
                  <a:txBody>
                    <a:bodyPr/>
                    <a:lstStyle/>
                    <a:p>
                      <a:pPr algn="ctr" rtl="0" fontAlgn="b">
                        <a:buNone/>
                      </a:pPr>
                      <a:r>
                        <a:rPr lang="en-IN" sz="1200" dirty="0">
                          <a:effectLst/>
                        </a:rPr>
                        <a:t>S. No. </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Article Title, Published Year, Journal Name</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IN" sz="1200">
                          <a:effectLst/>
                        </a:rPr>
                        <a:t>Methods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IN" sz="1200">
                          <a:effectLst/>
                        </a:rPr>
                        <a:t>Key Features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IN" sz="1200">
                          <a:effectLst/>
                        </a:rPr>
                        <a:t>Merits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IN" sz="1200">
                          <a:effectLst/>
                        </a:rPr>
                        <a:t>Demerits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442982727"/>
                  </a:ext>
                </a:extLst>
              </a:tr>
              <a:tr h="955772">
                <a:tc>
                  <a:txBody>
                    <a:bodyPr/>
                    <a:lstStyle/>
                    <a:p>
                      <a:pPr algn="ctr" rtl="0" fontAlgn="b">
                        <a:buNone/>
                      </a:pPr>
                      <a:r>
                        <a:rPr lang="en-IN" sz="1200">
                          <a:effectLst/>
                        </a:rPr>
                        <a:t>1</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Sharma and Singh, “Progressive Web Applications for E-Governance Services,” 2020, International Journal of Information Systems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dirty="0">
                          <a:effectLst/>
                        </a:rPr>
                        <a:t>Case study of PWA design and deployment</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Evaluates PWA performance in low-bandwidth rural settings and offline functionality</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Shows improved accessibility, reliability, and engagement through PWA features like offline caching</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Small user sample; limited focus on PwD accessibility</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989430469"/>
                  </a:ext>
                </a:extLst>
              </a:tr>
              <a:tr h="899941">
                <a:tc>
                  <a:txBody>
                    <a:bodyPr/>
                    <a:lstStyle/>
                    <a:p>
                      <a:pPr algn="ctr" rtl="0" fontAlgn="b">
                        <a:buNone/>
                      </a:pPr>
                      <a:r>
                        <a:rPr lang="en-IN" sz="1200">
                          <a:effectLst/>
                        </a:rPr>
                        <a:t>2</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IN" sz="1200" dirty="0">
                          <a:effectLst/>
                        </a:rPr>
                        <a:t>Chen et al., “AI-Driven Text Simplification for Cognitive Accessibility,” 2021, ACM Transactions on Accessible Computing</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Fine-tuned BERT model for text simplification</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Machine-learning approach to simplify bureaucratic text for cognitive disabilities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Enhances reading comprehension and task efficiency</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Occasional factual errors (“hallucinations”); needs human verification</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506248109"/>
                  </a:ext>
                </a:extLst>
              </a:tr>
              <a:tr h="1067434">
                <a:tc>
                  <a:txBody>
                    <a:bodyPr/>
                    <a:lstStyle/>
                    <a:p>
                      <a:pPr algn="ctr" rtl="0" fontAlgn="b">
                        <a:buNone/>
                      </a:pPr>
                      <a:r>
                        <a:rPr lang="en-IN" sz="1200">
                          <a:effectLst/>
                        </a:rPr>
                        <a:t>3</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Gupta and Joshi, “Barriers to Employment for Persons with Disabilities in the Indian Public Sector,” 2019, Indian Journal of Social Policy</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IN" sz="1200">
                          <a:effectLst/>
                        </a:rPr>
                        <a:t>Mixed-methods (quantitative + interviews)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Identifies accessibility and information gaps in public job systems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Strong empirical support for centralized job portals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Focuses mainly on public sector, not private initiatives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252185331"/>
                  </a:ext>
                </a:extLst>
              </a:tr>
              <a:tr h="899941">
                <a:tc>
                  <a:txBody>
                    <a:bodyPr/>
                    <a:lstStyle/>
                    <a:p>
                      <a:pPr algn="ctr" rtl="0" fontAlgn="b">
                        <a:buNone/>
                      </a:pPr>
                      <a:r>
                        <a:rPr lang="en-IN" sz="1200">
                          <a:effectLst/>
                        </a:rPr>
                        <a:t>4</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Bigham et al., “Usability of Authentication Methods for Users with Disabilities,” 2018, Journal of Human–Computer Interaction</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Comparative usability study (password vs OTP vs facial recognition)</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Examines authentication efficiency for PwDs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Confirms facial recognition as low cognitive load and user-friendly</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Needs fallback authentication; affected by lighting and face positioning</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90652234"/>
                  </a:ext>
                </a:extLst>
              </a:tr>
              <a:tr h="788279">
                <a:tc>
                  <a:txBody>
                    <a:bodyPr/>
                    <a:lstStyle/>
                    <a:p>
                      <a:pPr algn="ctr" rtl="0" fontAlgn="b">
                        <a:buNone/>
                      </a:pPr>
                      <a:r>
                        <a:rPr lang="en-IN" sz="1200">
                          <a:effectLst/>
                        </a:rPr>
                        <a:t>5</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Edwards and Lee, “Comparative Study of Web Scraping Techniques,” 2017, IEEE Access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Comparison of static and dynamic scraping methods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Assesses reliability of BeautifulSoup vs Selenium</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a:effectLst/>
                        </a:rPr>
                        <a:t>Demonstrates the need for dynamic scraping for JS-rendered websites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rtl="0" fontAlgn="b">
                        <a:buNone/>
                      </a:pPr>
                      <a:r>
                        <a:rPr lang="en-GB" sz="1200" dirty="0">
                          <a:effectLst/>
                        </a:rPr>
                        <a:t>Dynamic scrapers require frequent updates due to layout changes</a:t>
                      </a:r>
                    </a:p>
                  </a:txBody>
                  <a:tcPr marL="4985" marR="4985" marT="3323" marB="3323" anchor="b">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32377418"/>
                  </a:ext>
                </a:extLst>
              </a:tr>
            </a:tbl>
          </a:graphicData>
        </a:graphic>
      </p:graphicFrame>
    </p:spTree>
    <p:extLst>
      <p:ext uri="{BB962C8B-B14F-4D97-AF65-F5344CB8AC3E}">
        <p14:creationId xmlns:p14="http://schemas.microsoft.com/office/powerpoint/2010/main" val="2494301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Problem Statement Number: </a:t>
            </a:r>
            <a:r>
              <a:rPr lang="en-US" dirty="0">
                <a:latin typeface="Cambria" panose="02040503050406030204" pitchFamily="18" charset="0"/>
                <a:ea typeface="Cambria" panose="02040503050406030204" pitchFamily="18" charset="0"/>
              </a:rPr>
              <a:t>PSCS_39 </a:t>
            </a:r>
            <a:endParaRPr dirty="0">
              <a:latin typeface="Cambria" panose="02040503050406030204" pitchFamily="18" charset="0"/>
              <a:ea typeface="Cambria" panose="02040503050406030204" pitchFamily="18" charset="0"/>
            </a:endParaRPr>
          </a:p>
        </p:txBody>
      </p:sp>
      <p:sp>
        <p:nvSpPr>
          <p:cNvPr id="4" name="Google Shape;97;p14">
            <a:extLst>
              <a:ext uri="{FF2B5EF4-FFF2-40B4-BE49-F238E27FC236}">
                <a16:creationId xmlns:a16="http://schemas.microsoft.com/office/drawing/2014/main" id="{BC4E0711-D0C6-9AF4-3EAD-D685BA92F987}"/>
              </a:ext>
            </a:extLst>
          </p:cNvPr>
          <p:cNvSpPr txBox="1">
            <a:spLocks/>
          </p:cNvSpPr>
          <p:nvPr/>
        </p:nvSpPr>
        <p:spPr>
          <a:xfrm>
            <a:off x="655782" y="1161143"/>
            <a:ext cx="10668000" cy="46808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76200" indent="0" algn="just">
              <a:buFont typeface="Arial"/>
              <a:buNone/>
            </a:pPr>
            <a:r>
              <a:rPr lang="en-GB" sz="1400" b="1" u="sng" dirty="0">
                <a:latin typeface="Times New Roman" panose="02020603050405020304" pitchFamily="18" charset="0"/>
                <a:cs typeface="Times New Roman" panose="02020603050405020304" pitchFamily="18" charset="0"/>
              </a:rPr>
              <a:t>Category : Software Based Project</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b="1" u="sng" dirty="0">
                <a:latin typeface="Times New Roman" panose="02020603050405020304" pitchFamily="18" charset="0"/>
                <a:cs typeface="Times New Roman" panose="02020603050405020304" pitchFamily="18" charset="0"/>
              </a:rPr>
              <a:t>Problem Description:</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algn="just"/>
            <a:r>
              <a:rPr lang="en-GB" sz="1400" dirty="0">
                <a:latin typeface="Times New Roman" panose="02020603050405020304" pitchFamily="18" charset="0"/>
                <a:cs typeface="Times New Roman" panose="02020603050405020304" pitchFamily="18" charset="0"/>
              </a:rPr>
              <a:t>The proposed system aims to improve access to government job opportunities for Persons with Disabilities (</a:t>
            </a:r>
            <a:r>
              <a:rPr lang="en-GB" sz="1400" dirty="0" err="1">
                <a:latin typeface="Times New Roman" panose="02020603050405020304" pitchFamily="18" charset="0"/>
                <a:cs typeface="Times New Roman" panose="02020603050405020304" pitchFamily="18" charset="0"/>
              </a:rPr>
              <a:t>PwDs</a:t>
            </a:r>
            <a:r>
              <a:rPr lang="en-GB" sz="1400" dirty="0">
                <a:latin typeface="Times New Roman" panose="02020603050405020304" pitchFamily="18" charset="0"/>
                <a:cs typeface="Times New Roman" panose="02020603050405020304" pitchFamily="18" charset="0"/>
              </a:rPr>
              <a:t>) by developing a Progressive Web Application that centralizes reservation-category job postings and simplifies complex job notifications into easy-to-understand language. Many adults with Intellectual Disabilities find it difficult to discover and interpret job information due to scattered sources, technical terminology, and limited digital accessibility.</a:t>
            </a:r>
          </a:p>
          <a:p>
            <a:pPr marL="76200" indent="0" algn="just">
              <a:buNone/>
            </a:pPr>
            <a:endParaRPr lang="en-GB" sz="1400" dirty="0">
              <a:latin typeface="Times New Roman" panose="02020603050405020304" pitchFamily="18" charset="0"/>
              <a:cs typeface="Times New Roman" panose="02020603050405020304" pitchFamily="18" charset="0"/>
            </a:endParaRPr>
          </a:p>
          <a:p>
            <a:pPr algn="just"/>
            <a:r>
              <a:rPr lang="en-GB" sz="1400" dirty="0">
                <a:latin typeface="Times New Roman" panose="02020603050405020304" pitchFamily="18" charset="0"/>
                <a:cs typeface="Times New Roman" panose="02020603050405020304" pitchFamily="18" charset="0"/>
              </a:rPr>
              <a:t>Users will be able to view simplified job listings, receive guided application support, and access features such as text-to-speech, large controls, and high-contrast modes. Automated web scraping using Python gathers job notifications from official portals, while AI-based language simplification converts lengthy documents into plain, step-wise summaries. Separate caregiver access supports assisted decision-making during application steps.</a:t>
            </a:r>
          </a:p>
          <a:p>
            <a:pPr marL="76200" indent="0" algn="just">
              <a:buNone/>
            </a:pPr>
            <a:endParaRPr lang="en-GB" sz="1400" dirty="0">
              <a:latin typeface="Times New Roman" panose="02020603050405020304" pitchFamily="18" charset="0"/>
              <a:cs typeface="Times New Roman" panose="02020603050405020304" pitchFamily="18" charset="0"/>
            </a:endParaRPr>
          </a:p>
          <a:p>
            <a:pPr algn="just"/>
            <a:r>
              <a:rPr lang="en-GB" sz="1400" dirty="0">
                <a:latin typeface="Times New Roman" panose="02020603050405020304" pitchFamily="18" charset="0"/>
                <a:cs typeface="Times New Roman" panose="02020603050405020304" pitchFamily="18" charset="0"/>
              </a:rPr>
              <a:t>By reducing cognitive load and providing centralized access, the system removes barriers that prevent </a:t>
            </a:r>
            <a:r>
              <a:rPr lang="en-GB" sz="1400" dirty="0" err="1">
                <a:latin typeface="Times New Roman" panose="02020603050405020304" pitchFamily="18" charset="0"/>
                <a:cs typeface="Times New Roman" panose="02020603050405020304" pitchFamily="18" charset="0"/>
              </a:rPr>
              <a:t>PwDs</a:t>
            </a:r>
            <a:r>
              <a:rPr lang="en-GB" sz="1400" dirty="0">
                <a:latin typeface="Times New Roman" panose="02020603050405020304" pitchFamily="18" charset="0"/>
                <a:cs typeface="Times New Roman" panose="02020603050405020304" pitchFamily="18" charset="0"/>
              </a:rPr>
              <a:t> from participating in employment opportunities. Ultimately, this project aims to ensure that legally available reservation benefits become practically accessible, empowering </a:t>
            </a:r>
            <a:r>
              <a:rPr lang="en-GB" sz="1400" dirty="0" err="1">
                <a:latin typeface="Times New Roman" panose="02020603050405020304" pitchFamily="18" charset="0"/>
                <a:cs typeface="Times New Roman" panose="02020603050405020304" pitchFamily="18" charset="0"/>
              </a:rPr>
              <a:t>PwDs</a:t>
            </a:r>
            <a:r>
              <a:rPr lang="en-GB" sz="1400" dirty="0">
                <a:latin typeface="Times New Roman" panose="02020603050405020304" pitchFamily="18" charset="0"/>
                <a:cs typeface="Times New Roman" panose="02020603050405020304" pitchFamily="18" charset="0"/>
              </a:rPr>
              <a:t> toward greater independence and inclusion.</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System Model</a:t>
            </a:r>
          </a:p>
        </p:txBody>
      </p:sp>
      <p:sp>
        <p:nvSpPr>
          <p:cNvPr id="7" name="Google Shape;97;p14">
            <a:extLst>
              <a:ext uri="{FF2B5EF4-FFF2-40B4-BE49-F238E27FC236}">
                <a16:creationId xmlns:a16="http://schemas.microsoft.com/office/drawing/2014/main" id="{AE4905CA-89A9-CEED-2EE8-7BD7B6E605B7}"/>
              </a:ext>
            </a:extLst>
          </p:cNvPr>
          <p:cNvSpPr txBox="1">
            <a:spLocks/>
          </p:cNvSpPr>
          <p:nvPr/>
        </p:nvSpPr>
        <p:spPr>
          <a:xfrm>
            <a:off x="500743" y="1095830"/>
            <a:ext cx="10980057" cy="500742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76200" indent="0" algn="just">
              <a:buFont typeface="Arial"/>
              <a:buNone/>
            </a:pPr>
            <a:r>
              <a:rPr lang="en-GB" sz="1400" b="1" u="sng" dirty="0">
                <a:latin typeface="Times New Roman" panose="02020603050405020304" pitchFamily="18" charset="0"/>
                <a:cs typeface="Times New Roman" panose="02020603050405020304" pitchFamily="18" charset="0"/>
              </a:rPr>
              <a:t>Description:</a:t>
            </a:r>
          </a:p>
          <a:p>
            <a:pPr marL="76200" indent="0" algn="just">
              <a:buFont typeface="Arial"/>
              <a:buNone/>
            </a:pPr>
            <a:r>
              <a:rPr lang="en-GB" sz="1400" dirty="0">
                <a:latin typeface="Times New Roman" panose="02020603050405020304" pitchFamily="18" charset="0"/>
                <a:cs typeface="Times New Roman" panose="02020603050405020304" pitchFamily="18" charset="0"/>
              </a:rPr>
              <a:t>The proposed system is built as a Progressive Web Application that connects users with reservation-category government job notifications through an accessibility-first workflow. The architecture separates data collection, processing, and presentation so that all heavy tasks happen in the backend, while the user interface stays simple, fast, and easy to use for adults with Intellectual Disabilities and their caregivers.</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The system model consists of the following main components:</a:t>
            </a:r>
          </a:p>
          <a:p>
            <a:pPr algn="just"/>
            <a:r>
              <a:rPr lang="en-GB" sz="1400" dirty="0">
                <a:latin typeface="Times New Roman" panose="02020603050405020304" pitchFamily="18" charset="0"/>
                <a:cs typeface="Times New Roman" panose="02020603050405020304" pitchFamily="18" charset="0"/>
              </a:rPr>
              <a:t>Input Layer: </a:t>
            </a:r>
            <a:r>
              <a:rPr lang="en-GB" sz="1400" dirty="0" err="1">
                <a:latin typeface="Times New Roman" panose="02020603050405020304" pitchFamily="18" charset="0"/>
                <a:cs typeface="Times New Roman" panose="02020603050405020304" pitchFamily="18" charset="0"/>
              </a:rPr>
              <a:t>PwD</a:t>
            </a:r>
            <a:r>
              <a:rPr lang="en-GB" sz="1400" dirty="0">
                <a:latin typeface="Times New Roman" panose="02020603050405020304" pitchFamily="18" charset="0"/>
                <a:cs typeface="Times New Roman" panose="02020603050405020304" pitchFamily="18" charset="0"/>
              </a:rPr>
              <a:t> users and caregivers access the system through a browser-based PWA on mobile or desktop. They provide preferences such as job type, location, and disability category, and interact with features like text-to-speech, high-contrast mode, and simplified summaries.</a:t>
            </a:r>
          </a:p>
          <a:p>
            <a:pPr algn="just"/>
            <a:r>
              <a:rPr lang="en-GB" sz="1400" dirty="0">
                <a:latin typeface="Times New Roman" panose="02020603050405020304" pitchFamily="18" charset="0"/>
                <a:cs typeface="Times New Roman" panose="02020603050405020304" pitchFamily="18" charset="0"/>
              </a:rPr>
              <a:t>Data Ingestion Layer (Scraper): Python-based scraping services periodically fetch job notifications from official government portals like NCS. These scripts extract key fields such as post name, department, eligibility, dates, and links to the original notification.</a:t>
            </a:r>
          </a:p>
          <a:p>
            <a:pPr algn="just"/>
            <a:r>
              <a:rPr lang="en-GB" sz="1400" dirty="0">
                <a:latin typeface="Times New Roman" panose="02020603050405020304" pitchFamily="18" charset="0"/>
                <a:cs typeface="Times New Roman" panose="02020603050405020304" pitchFamily="18" charset="0"/>
              </a:rPr>
              <a:t>Processing and Storage Layer: A backend built using Node.js exposes APIs to store and manage job data in a database (for example, MongoDB or PostgreSQL). </a:t>
            </a:r>
          </a:p>
          <a:p>
            <a:pPr algn="just"/>
            <a:r>
              <a:rPr lang="en-GB" sz="1400" dirty="0">
                <a:latin typeface="Times New Roman" panose="02020603050405020304" pitchFamily="18" charset="0"/>
                <a:cs typeface="Times New Roman" panose="02020603050405020304" pitchFamily="18" charset="0"/>
              </a:rPr>
              <a:t>Application Logic Layer: This layer handles user authentication, caregiver linkage, saved jobs, filters, and notification triggers when new relevant vacancies are available. It ensures that each user sees content tailored to their needs and preferences.</a:t>
            </a:r>
          </a:p>
          <a:p>
            <a:pPr algn="just"/>
            <a:r>
              <a:rPr lang="en-GB" sz="1400" dirty="0">
                <a:latin typeface="Times New Roman" panose="02020603050405020304" pitchFamily="18" charset="0"/>
                <a:cs typeface="Times New Roman" panose="02020603050405020304" pitchFamily="18" charset="0"/>
              </a:rPr>
              <a:t>Presentation Layer (PWA Client): The frontend, developed with React as a PWA, presents simplified job summaries, guided application steps, and profile features. It uses service workers for offline caching and is optimized for low-end Android phones and low-bandwidth environments.</a:t>
            </a:r>
          </a:p>
          <a:p>
            <a:pPr marL="76200" indent="0" algn="just">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Together, these components form a modular and scalable system where complex tasks like scraping, parsing, and simplification are done in the background, while users experience a clean, predictable, and accessible interface for job discovery and application support.</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3828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Result</a:t>
            </a:r>
          </a:p>
        </p:txBody>
      </p:sp>
      <p:sp>
        <p:nvSpPr>
          <p:cNvPr id="2" name="Google Shape;97;p14">
            <a:extLst>
              <a:ext uri="{FF2B5EF4-FFF2-40B4-BE49-F238E27FC236}">
                <a16:creationId xmlns:a16="http://schemas.microsoft.com/office/drawing/2014/main" id="{4C66EA8C-07FF-5B81-EFDA-2A996B8DF833}"/>
              </a:ext>
            </a:extLst>
          </p:cNvPr>
          <p:cNvSpPr txBox="1">
            <a:spLocks/>
          </p:cNvSpPr>
          <p:nvPr/>
        </p:nvSpPr>
        <p:spPr>
          <a:xfrm>
            <a:off x="812800" y="1183246"/>
            <a:ext cx="10668000" cy="492001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76200" indent="0" algn="just">
              <a:buFont typeface="Arial"/>
              <a:buNone/>
            </a:pPr>
            <a:r>
              <a:rPr lang="en-GB" sz="1400" dirty="0">
                <a:latin typeface="Times New Roman" panose="02020603050405020304" pitchFamily="18" charset="0"/>
                <a:cs typeface="Times New Roman" panose="02020603050405020304" pitchFamily="18" charset="0"/>
              </a:rPr>
              <a:t>Initial testing of the Udyog </a:t>
            </a:r>
            <a:r>
              <a:rPr lang="en-GB" sz="1400" dirty="0" err="1">
                <a:latin typeface="Times New Roman" panose="02020603050405020304" pitchFamily="18" charset="0"/>
                <a:cs typeface="Times New Roman" panose="02020603050405020304" pitchFamily="18" charset="0"/>
              </a:rPr>
              <a:t>Saarthi</a:t>
            </a:r>
            <a:r>
              <a:rPr lang="en-GB" sz="1400" dirty="0">
                <a:latin typeface="Times New Roman" panose="02020603050405020304" pitchFamily="18" charset="0"/>
                <a:cs typeface="Times New Roman" panose="02020603050405020304" pitchFamily="18" charset="0"/>
              </a:rPr>
              <a:t> system was conducted with a small group of adults with Intellectual Disabilities and their caregivers to evaluate usability, comprehension, and task completion efficiency. The focus was to determine whether simplified summaries and accessibility-first UI improved the ability to understand and navigate job postings compared to existing government portals.</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Key outcomes observed</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algn="just"/>
            <a:r>
              <a:rPr lang="en-GB" sz="1400" dirty="0">
                <a:latin typeface="Times New Roman" panose="02020603050405020304" pitchFamily="18" charset="0"/>
                <a:cs typeface="Times New Roman" panose="02020603050405020304" pitchFamily="18" charset="0"/>
              </a:rPr>
              <a:t>Users were able to identify relevant job postings more quickly using simplified </a:t>
            </a:r>
            <a:r>
              <a:rPr lang="en-GB" sz="1400" dirty="0" err="1">
                <a:latin typeface="Times New Roman" panose="02020603050405020304" pitchFamily="18" charset="0"/>
                <a:cs typeface="Times New Roman" panose="02020603050405020304" pitchFamily="18" charset="0"/>
              </a:rPr>
              <a:t>summaries.Caregivers</a:t>
            </a:r>
            <a:r>
              <a:rPr lang="en-GB" sz="1400" dirty="0">
                <a:latin typeface="Times New Roman" panose="02020603050405020304" pitchFamily="18" charset="0"/>
                <a:cs typeface="Times New Roman" panose="02020603050405020304" pitchFamily="18" charset="0"/>
              </a:rPr>
              <a:t> reported reduced effort and time required to guide users during job search and application steps.</a:t>
            </a:r>
          </a:p>
          <a:p>
            <a:pPr algn="just"/>
            <a:r>
              <a:rPr lang="en-GB" sz="1400" dirty="0">
                <a:latin typeface="Times New Roman" panose="02020603050405020304" pitchFamily="18" charset="0"/>
                <a:cs typeface="Times New Roman" panose="02020603050405020304" pitchFamily="18" charset="0"/>
              </a:rPr>
              <a:t>Participants understood eligibility criteria and document requirements more clearly.</a:t>
            </a:r>
          </a:p>
          <a:p>
            <a:pPr algn="just"/>
            <a:r>
              <a:rPr lang="en-GB" sz="1400" dirty="0">
                <a:latin typeface="Times New Roman" panose="02020603050405020304" pitchFamily="18" charset="0"/>
                <a:cs typeface="Times New Roman" panose="02020603050405020304" pitchFamily="18" charset="0"/>
              </a:rPr>
              <a:t>The PWA interface performed smoothly on low-end Android devices with limited network connectivity.</a:t>
            </a:r>
          </a:p>
          <a:p>
            <a:pPr algn="just"/>
            <a:r>
              <a:rPr lang="en-GB" sz="1400" dirty="0">
                <a:latin typeface="Times New Roman" panose="02020603050405020304" pitchFamily="18" charset="0"/>
                <a:cs typeface="Times New Roman" panose="02020603050405020304" pitchFamily="18" charset="0"/>
              </a:rPr>
              <a:t>Automated scraping successfully collected and normalized job notifications without manual effort.</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These early results suggest that reducing complexity and consolidating job information significantly improves accessibility and user confidence. Continued testing with a larger group is expected to further validate the impact on real job application success.</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4548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Conclusion</a:t>
            </a:r>
          </a:p>
        </p:txBody>
      </p:sp>
      <p:sp>
        <p:nvSpPr>
          <p:cNvPr id="5" name="Google Shape;97;p14">
            <a:extLst>
              <a:ext uri="{FF2B5EF4-FFF2-40B4-BE49-F238E27FC236}">
                <a16:creationId xmlns:a16="http://schemas.microsoft.com/office/drawing/2014/main" id="{39968302-28A0-F535-2D8F-9FF893C2B073}"/>
              </a:ext>
            </a:extLst>
          </p:cNvPr>
          <p:cNvSpPr txBox="1">
            <a:spLocks/>
          </p:cNvSpPr>
          <p:nvPr/>
        </p:nvSpPr>
        <p:spPr>
          <a:xfrm>
            <a:off x="812800" y="1183246"/>
            <a:ext cx="10668000" cy="492001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76200" indent="0" algn="just">
              <a:buFont typeface="Arial"/>
              <a:buNone/>
            </a:pPr>
            <a:r>
              <a:rPr lang="en-GB" sz="1400" dirty="0">
                <a:latin typeface="Times New Roman" panose="02020603050405020304" pitchFamily="18" charset="0"/>
                <a:cs typeface="Times New Roman" panose="02020603050405020304" pitchFamily="18" charset="0"/>
              </a:rPr>
              <a:t>The Udyog </a:t>
            </a:r>
            <a:r>
              <a:rPr lang="en-GB" sz="1400" dirty="0" err="1">
                <a:latin typeface="Times New Roman" panose="02020603050405020304" pitchFamily="18" charset="0"/>
                <a:cs typeface="Times New Roman" panose="02020603050405020304" pitchFamily="18" charset="0"/>
              </a:rPr>
              <a:t>Saarthi</a:t>
            </a:r>
            <a:r>
              <a:rPr lang="en-GB" sz="1400" dirty="0">
                <a:latin typeface="Times New Roman" panose="02020603050405020304" pitchFamily="18" charset="0"/>
                <a:cs typeface="Times New Roman" panose="02020603050405020304" pitchFamily="18" charset="0"/>
              </a:rPr>
              <a:t> system successfully addresses the major barriers faced by adults with Intellectual Disabilities in accessing government job opportunities reserved under the </a:t>
            </a:r>
            <a:r>
              <a:rPr lang="en-GB" sz="1400" dirty="0" err="1">
                <a:latin typeface="Times New Roman" panose="02020603050405020304" pitchFamily="18" charset="0"/>
                <a:cs typeface="Times New Roman" panose="02020603050405020304" pitchFamily="18" charset="0"/>
              </a:rPr>
              <a:t>RPwD</a:t>
            </a:r>
            <a:r>
              <a:rPr lang="en-GB" sz="1400" dirty="0">
                <a:latin typeface="Times New Roman" panose="02020603050405020304" pitchFamily="18" charset="0"/>
                <a:cs typeface="Times New Roman" panose="02020603050405020304" pitchFamily="18" charset="0"/>
              </a:rPr>
              <a:t> Act. By centralizing job notifications, simplifying complex text, and providing an accessibility-focused interface, the platform transforms legally available opportunities into information that is understandable and actionable.</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Key takeaway points</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algn="just"/>
            <a:r>
              <a:rPr lang="en-GB" sz="1400" dirty="0">
                <a:latin typeface="Times New Roman" panose="02020603050405020304" pitchFamily="18" charset="0"/>
                <a:cs typeface="Times New Roman" panose="02020603050405020304" pitchFamily="18" charset="0"/>
              </a:rPr>
              <a:t>Simplified, plain-language summaries reduce cognitive load and improve comprehension.</a:t>
            </a:r>
          </a:p>
          <a:p>
            <a:pPr algn="just"/>
            <a:r>
              <a:rPr lang="en-GB" sz="1400" dirty="0">
                <a:latin typeface="Times New Roman" panose="02020603050405020304" pitchFamily="18" charset="0"/>
                <a:cs typeface="Times New Roman" panose="02020603050405020304" pitchFamily="18" charset="0"/>
              </a:rPr>
              <a:t>Centralized job listings eliminate the need to navigate multiple </a:t>
            </a:r>
            <a:r>
              <a:rPr lang="en-GB" sz="1400" dirty="0" err="1">
                <a:latin typeface="Times New Roman" panose="02020603050405020304" pitchFamily="18" charset="0"/>
                <a:cs typeface="Times New Roman" panose="02020603050405020304" pitchFamily="18" charset="0"/>
              </a:rPr>
              <a:t>portals.Accessibility</a:t>
            </a:r>
            <a:r>
              <a:rPr lang="en-GB" sz="1400" dirty="0">
                <a:latin typeface="Times New Roman" panose="02020603050405020304" pitchFamily="18" charset="0"/>
                <a:cs typeface="Times New Roman" panose="02020603050405020304" pitchFamily="18" charset="0"/>
              </a:rPr>
              <a:t> features and caregiver participation enhance independent decision-making.</a:t>
            </a:r>
          </a:p>
          <a:p>
            <a:pPr algn="just"/>
            <a:r>
              <a:rPr lang="en-GB" sz="1400" dirty="0">
                <a:latin typeface="Times New Roman" panose="02020603050405020304" pitchFamily="18" charset="0"/>
                <a:cs typeface="Times New Roman" panose="02020603050405020304" pitchFamily="18" charset="0"/>
              </a:rPr>
              <a:t>Automated scraping and real-time updates reduce manual searching efforts.</a:t>
            </a:r>
          </a:p>
          <a:p>
            <a:pPr algn="just"/>
            <a:r>
              <a:rPr lang="en-GB" sz="1400" dirty="0">
                <a:latin typeface="Times New Roman" panose="02020603050405020304" pitchFamily="18" charset="0"/>
                <a:cs typeface="Times New Roman" panose="02020603050405020304" pitchFamily="18" charset="0"/>
              </a:rPr>
              <a:t>PWA performance ensures usability on low-end devices and low-bandwidth connections.</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Overall, the system supports more equitable access to employment resources and empowers </a:t>
            </a:r>
            <a:r>
              <a:rPr lang="en-GB" sz="1400" dirty="0" err="1">
                <a:latin typeface="Times New Roman" panose="02020603050405020304" pitchFamily="18" charset="0"/>
                <a:cs typeface="Times New Roman" panose="02020603050405020304" pitchFamily="18" charset="0"/>
              </a:rPr>
              <a:t>PwDs</a:t>
            </a:r>
            <a:r>
              <a:rPr lang="en-GB" sz="1400" dirty="0">
                <a:latin typeface="Times New Roman" panose="02020603050405020304" pitchFamily="18" charset="0"/>
                <a:cs typeface="Times New Roman" panose="02020603050405020304" pitchFamily="18" charset="0"/>
              </a:rPr>
              <a:t> to participate more confidently in public-sector hiring. Future work can extend coverage, add personalized learning features, and scale testing to measure long-term employment impact.</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0220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gn="just">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References</a:t>
            </a:r>
          </a:p>
        </p:txBody>
      </p:sp>
      <p:sp>
        <p:nvSpPr>
          <p:cNvPr id="5" name="Google Shape;97;p14">
            <a:extLst>
              <a:ext uri="{FF2B5EF4-FFF2-40B4-BE49-F238E27FC236}">
                <a16:creationId xmlns:a16="http://schemas.microsoft.com/office/drawing/2014/main" id="{1F76B1A8-EA22-3FCF-AE7B-F4D73B948E3D}"/>
              </a:ext>
            </a:extLst>
          </p:cNvPr>
          <p:cNvSpPr txBox="1">
            <a:spLocks/>
          </p:cNvSpPr>
          <p:nvPr/>
        </p:nvSpPr>
        <p:spPr>
          <a:xfrm>
            <a:off x="812800" y="1183246"/>
            <a:ext cx="10668000" cy="492001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76200" indent="0" algn="just">
              <a:buFont typeface="Arial"/>
              <a:buNone/>
            </a:pPr>
            <a:r>
              <a:rPr lang="en-GB" sz="1400" dirty="0">
                <a:latin typeface="Times New Roman" panose="02020603050405020304" pitchFamily="18" charset="0"/>
                <a:cs typeface="Times New Roman" panose="02020603050405020304" pitchFamily="18" charset="0"/>
              </a:rPr>
              <a:t>[1] Government of India, Ministry of Law &amp; Justice, Rights of Persons with Disabilities (</a:t>
            </a:r>
            <a:r>
              <a:rPr lang="en-GB" sz="1400" dirty="0" err="1">
                <a:latin typeface="Times New Roman" panose="02020603050405020304" pitchFamily="18" charset="0"/>
                <a:cs typeface="Times New Roman" panose="02020603050405020304" pitchFamily="18" charset="0"/>
              </a:rPr>
              <a:t>RPwD</a:t>
            </a:r>
            <a:r>
              <a:rPr lang="en-GB" sz="1400" dirty="0">
                <a:latin typeface="Times New Roman" panose="02020603050405020304" pitchFamily="18" charset="0"/>
                <a:cs typeface="Times New Roman" panose="02020603050405020304" pitchFamily="18" charset="0"/>
              </a:rPr>
              <a:t>) Act, 2016.</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[2] World Health Organization, World Report on Disability, WHO Press, 2011.</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[3] Department of Personnel and Training, Government of India, Reservation for Persons with Benchmark Disabilities in Posts/Services, 2018.</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[4] A. </a:t>
            </a:r>
            <a:r>
              <a:rPr lang="en-GB" sz="1400" dirty="0" err="1">
                <a:latin typeface="Times New Roman" panose="02020603050405020304" pitchFamily="18" charset="0"/>
                <a:cs typeface="Times New Roman" panose="02020603050405020304" pitchFamily="18" charset="0"/>
              </a:rPr>
              <a:t>Parnandi</a:t>
            </a:r>
            <a:r>
              <a:rPr lang="en-GB" sz="1400" dirty="0">
                <a:latin typeface="Times New Roman" panose="02020603050405020304" pitchFamily="18" charset="0"/>
                <a:cs typeface="Times New Roman" panose="02020603050405020304" pitchFamily="18" charset="0"/>
              </a:rPr>
              <a:t> and G. Floyd, "Assistive User Interface Design for People with Intellectual Disabilities," ACM ASSETS Conference, 2021.</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[5] A. Russell and J. Song, "Progressive Web Apps: Bridging Mobile Experiences Across Environments," Communications of the ACM, vol. 62, no. 4, pp. 22–24, 2019.</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[6] B. Plimmer and D. Inglis, "Plain Language for People with Cognitive Impairments," Proceedings of the ACM CHI Conference, 2020.</a:t>
            </a:r>
          </a:p>
          <a:p>
            <a:pPr marL="76200" indent="0" algn="just">
              <a:buFont typeface="Arial"/>
              <a:buNone/>
            </a:pPr>
            <a:endParaRPr lang="en-GB" sz="1400" dirty="0">
              <a:latin typeface="Times New Roman" panose="02020603050405020304" pitchFamily="18" charset="0"/>
              <a:cs typeface="Times New Roman" panose="02020603050405020304" pitchFamily="18" charset="0"/>
            </a:endParaRPr>
          </a:p>
          <a:p>
            <a:pPr marL="76200" indent="0" algn="just">
              <a:buFont typeface="Arial"/>
              <a:buNone/>
            </a:pPr>
            <a:r>
              <a:rPr lang="en-GB" sz="1400" dirty="0">
                <a:latin typeface="Times New Roman" panose="02020603050405020304" pitchFamily="18" charset="0"/>
                <a:cs typeface="Times New Roman" panose="02020603050405020304" pitchFamily="18" charset="0"/>
              </a:rPr>
              <a:t>[7] Ministry of Labour &amp; Employment, National Career Service (NCS) Portal, Government of India.</a:t>
            </a: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3350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2" name="Google Shape;97;p14">
            <a:extLst>
              <a:ext uri="{FF2B5EF4-FFF2-40B4-BE49-F238E27FC236}">
                <a16:creationId xmlns:a16="http://schemas.microsoft.com/office/drawing/2014/main" id="{F657EB80-0194-0275-84AD-277B8AC606F0}"/>
              </a:ext>
            </a:extLst>
          </p:cNvPr>
          <p:cNvSpPr txBox="1">
            <a:spLocks/>
          </p:cNvSpPr>
          <p:nvPr/>
        </p:nvSpPr>
        <p:spPr>
          <a:xfrm>
            <a:off x="812800" y="1183246"/>
            <a:ext cx="10668000" cy="492001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76200" indent="0" algn="just">
              <a:buFont typeface="Arial"/>
              <a:buNone/>
            </a:pPr>
            <a:r>
              <a:rPr lang="en-GB" sz="1800" dirty="0" err="1">
                <a:latin typeface="Times New Roman" panose="02020603050405020304" pitchFamily="18" charset="0"/>
                <a:cs typeface="Times New Roman" panose="02020603050405020304" pitchFamily="18" charset="0"/>
              </a:rPr>
              <a:t>Github</a:t>
            </a:r>
            <a:r>
              <a:rPr lang="en-GB" sz="1800" dirty="0">
                <a:latin typeface="Times New Roman" panose="02020603050405020304" pitchFamily="18" charset="0"/>
                <a:cs typeface="Times New Roman" panose="02020603050405020304" pitchFamily="18" charset="0"/>
              </a:rPr>
              <a:t> Link : https://github.com/holycarrots/Capstone-Project-2025</a:t>
            </a:r>
          </a:p>
        </p:txBody>
      </p:sp>
    </p:spTree>
    <p:extLst>
      <p:ext uri="{BB962C8B-B14F-4D97-AF65-F5344CB8AC3E}">
        <p14:creationId xmlns:p14="http://schemas.microsoft.com/office/powerpoint/2010/main" val="285635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graphicFrame>
        <p:nvGraphicFramePr>
          <p:cNvPr id="6" name="Table 5">
            <a:extLst>
              <a:ext uri="{FF2B5EF4-FFF2-40B4-BE49-F238E27FC236}">
                <a16:creationId xmlns:a16="http://schemas.microsoft.com/office/drawing/2014/main" id="{D072C406-D7C6-428B-CBB1-61B596A9DC97}"/>
              </a:ext>
            </a:extLst>
          </p:cNvPr>
          <p:cNvGraphicFramePr>
            <a:graphicFrameLocks noGrp="1"/>
          </p:cNvGraphicFramePr>
          <p:nvPr>
            <p:extLst>
              <p:ext uri="{D42A27DB-BD31-4B8C-83A1-F6EECF244321}">
                <p14:modId xmlns:p14="http://schemas.microsoft.com/office/powerpoint/2010/main" val="1994014239"/>
              </p:ext>
            </p:extLst>
          </p:nvPr>
        </p:nvGraphicFramePr>
        <p:xfrm>
          <a:off x="886968" y="1102530"/>
          <a:ext cx="10762488" cy="4986719"/>
        </p:xfrm>
        <a:graphic>
          <a:graphicData uri="http://schemas.openxmlformats.org/drawingml/2006/table">
            <a:tbl>
              <a:tblPr/>
              <a:tblGrid>
                <a:gridCol w="1746504">
                  <a:extLst>
                    <a:ext uri="{9D8B030D-6E8A-4147-A177-3AD203B41FA5}">
                      <a16:colId xmlns:a16="http://schemas.microsoft.com/office/drawing/2014/main" val="2313757185"/>
                    </a:ext>
                  </a:extLst>
                </a:gridCol>
                <a:gridCol w="1024128">
                  <a:extLst>
                    <a:ext uri="{9D8B030D-6E8A-4147-A177-3AD203B41FA5}">
                      <a16:colId xmlns:a16="http://schemas.microsoft.com/office/drawing/2014/main" val="1814743925"/>
                    </a:ext>
                  </a:extLst>
                </a:gridCol>
                <a:gridCol w="1306286">
                  <a:extLst>
                    <a:ext uri="{9D8B030D-6E8A-4147-A177-3AD203B41FA5}">
                      <a16:colId xmlns:a16="http://schemas.microsoft.com/office/drawing/2014/main" val="2278959601"/>
                    </a:ext>
                  </a:extLst>
                </a:gridCol>
                <a:gridCol w="6685570">
                  <a:extLst>
                    <a:ext uri="{9D8B030D-6E8A-4147-A177-3AD203B41FA5}">
                      <a16:colId xmlns:a16="http://schemas.microsoft.com/office/drawing/2014/main" val="541223693"/>
                    </a:ext>
                  </a:extLst>
                </a:gridCol>
              </a:tblGrid>
              <a:tr h="256632">
                <a:tc>
                  <a:txBody>
                    <a:bodyPr/>
                    <a:lstStyle/>
                    <a:p>
                      <a:pPr algn="just">
                        <a:buNone/>
                      </a:pPr>
                      <a:r>
                        <a:rPr lang="en-US" sz="1400" b="0">
                          <a:latin typeface="Times New Roman" panose="02020603050405020304" pitchFamily="18" charset="0"/>
                          <a:cs typeface="Times New Roman" panose="02020603050405020304" pitchFamily="18" charset="0"/>
                        </a:rPr>
                        <a:t>Activity</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Start Date</a:t>
                      </a: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End Date</a:t>
                      </a: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Deliverable / Focus</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1257533"/>
                  </a:ext>
                </a:extLst>
              </a:tr>
              <a:tr h="795560">
                <a:tc>
                  <a:txBody>
                    <a:bodyPr/>
                    <a:lstStyle/>
                    <a:p>
                      <a:pPr algn="just">
                        <a:buNone/>
                      </a:pPr>
                      <a:r>
                        <a:rPr lang="en-US" sz="1400" b="0">
                          <a:latin typeface="Times New Roman" panose="02020603050405020304" pitchFamily="18" charset="0"/>
                          <a:cs typeface="Times New Roman" panose="02020603050405020304" pitchFamily="18" charset="0"/>
                        </a:rPr>
                        <a:t>Review-1 (CA-01)</a:t>
                      </a: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13-08-2025</a:t>
                      </a: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dirty="0">
                          <a:latin typeface="Times New Roman" panose="02020603050405020304" pitchFamily="18" charset="0"/>
                          <a:cs typeface="Times New Roman" panose="02020603050405020304" pitchFamily="18" charset="0"/>
                        </a:rPr>
                        <a:t>20-08-2025</a:t>
                      </a: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dirty="0">
                          <a:latin typeface="Times New Roman" panose="02020603050405020304" pitchFamily="18" charset="0"/>
                          <a:cs typeface="Times New Roman" panose="02020603050405020304" pitchFamily="18" charset="0"/>
                        </a:rPr>
                        <a:t>Requirement Analysis, Problem Understanding, Literature Survey</a:t>
                      </a: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6568304"/>
                  </a:ext>
                </a:extLst>
              </a:tr>
              <a:tr h="795560">
                <a:tc>
                  <a:txBody>
                    <a:bodyPr/>
                    <a:lstStyle/>
                    <a:p>
                      <a:pPr algn="just">
                        <a:buNone/>
                      </a:pPr>
                      <a:r>
                        <a:rPr lang="en-US" sz="1400" b="0">
                          <a:latin typeface="Times New Roman" panose="02020603050405020304" pitchFamily="18" charset="0"/>
                          <a:cs typeface="Times New Roman" panose="02020603050405020304" pitchFamily="18" charset="0"/>
                        </a:rPr>
                        <a:t>Review-2 (CA-02)</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03-09-2025</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10-09-2025</a:t>
                      </a: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GB" b="0" dirty="0">
                          <a:latin typeface="Times New Roman" panose="02020603050405020304" pitchFamily="18" charset="0"/>
                          <a:cs typeface="Times New Roman" panose="02020603050405020304" pitchFamily="18" charset="0"/>
                        </a:rPr>
                        <a:t>System Design, Architecture Planning, UI Wireframes</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3890844"/>
                  </a:ext>
                </a:extLst>
              </a:tr>
              <a:tr h="975202">
                <a:tc>
                  <a:txBody>
                    <a:bodyPr/>
                    <a:lstStyle/>
                    <a:p>
                      <a:pPr algn="just">
                        <a:buNone/>
                      </a:pPr>
                      <a:r>
                        <a:rPr lang="en-US" sz="1400" b="0">
                          <a:latin typeface="Times New Roman" panose="02020603050405020304" pitchFamily="18" charset="0"/>
                          <a:cs typeface="Times New Roman" panose="02020603050405020304" pitchFamily="18" charset="0"/>
                        </a:rPr>
                        <a:t>Review-3 (CA-03)</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23-09-2025</a:t>
                      </a: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26-09-2025</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b="0" dirty="0">
                          <a:latin typeface="Times New Roman" panose="02020603050405020304" pitchFamily="18" charset="0"/>
                          <a:cs typeface="Times New Roman" panose="02020603050405020304" pitchFamily="18" charset="0"/>
                        </a:rPr>
                        <a:t>Backend Development, Database Setup, Web Scraper Integration</a:t>
                      </a:r>
                      <a:endParaRPr lang="en-IN" b="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7961011"/>
                  </a:ext>
                </a:extLst>
              </a:tr>
              <a:tr h="1154845">
                <a:tc>
                  <a:txBody>
                    <a:bodyPr/>
                    <a:lstStyle/>
                    <a:p>
                      <a:pPr algn="just">
                        <a:buNone/>
                      </a:pPr>
                      <a:r>
                        <a:rPr lang="en-US" sz="1400" b="0">
                          <a:latin typeface="Times New Roman" panose="02020603050405020304" pitchFamily="18" charset="0"/>
                          <a:cs typeface="Times New Roman" panose="02020603050405020304" pitchFamily="18" charset="0"/>
                        </a:rPr>
                        <a:t>Review-4 (CA-04)</a:t>
                      </a: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17-11-2025</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21-11-2025</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GB" b="0" dirty="0">
                          <a:latin typeface="Times New Roman" panose="02020603050405020304" pitchFamily="18" charset="0"/>
                          <a:cs typeface="Times New Roman" panose="02020603050405020304" pitchFamily="18" charset="0"/>
                        </a:rPr>
                        <a:t>Frontend PWA Development, AI Simplification Module &amp; Accessibility Features</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77901009"/>
                  </a:ext>
                </a:extLst>
              </a:tr>
              <a:tr h="975202">
                <a:tc>
                  <a:txBody>
                    <a:bodyPr/>
                    <a:lstStyle/>
                    <a:p>
                      <a:pPr algn="just">
                        <a:buNone/>
                      </a:pPr>
                      <a:r>
                        <a:rPr lang="en-US" sz="1400" b="0">
                          <a:latin typeface="Times New Roman" panose="02020603050405020304" pitchFamily="18" charset="0"/>
                          <a:cs typeface="Times New Roman" panose="02020603050405020304" pitchFamily="18" charset="0"/>
                        </a:rPr>
                        <a:t>Final Viva (CA-05)</a:t>
                      </a: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27-11-2025</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US" sz="1400" b="0">
                          <a:latin typeface="Times New Roman" panose="02020603050405020304" pitchFamily="18" charset="0"/>
                          <a:cs typeface="Times New Roman" panose="02020603050405020304" pitchFamily="18" charset="0"/>
                        </a:rPr>
                        <a:t>28-11-2025</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b="0" dirty="0">
                          <a:latin typeface="Times New Roman" panose="02020603050405020304" pitchFamily="18" charset="0"/>
                          <a:cs typeface="Times New Roman" panose="02020603050405020304" pitchFamily="18" charset="0"/>
                        </a:rPr>
                        <a:t>Testing, Evaluation, Deployment, Documentation</a:t>
                      </a:r>
                      <a:endParaRPr lang="en-US" sz="1400" b="0" dirty="0">
                        <a:latin typeface="Times New Roman" panose="02020603050405020304" pitchFamily="18" charset="0"/>
                        <a:cs typeface="Times New Roman" panose="02020603050405020304" pitchFamily="18" charset="0"/>
                      </a:endParaRPr>
                    </a:p>
                  </a:txBody>
                  <a:tcPr marL="76990" marR="76990" marT="38495" marB="3849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7419605"/>
                  </a:ext>
                </a:extLst>
              </a:tr>
            </a:tbl>
          </a:graphicData>
        </a:graphic>
      </p:graphicFrame>
    </p:spTree>
    <p:extLst>
      <p:ext uri="{BB962C8B-B14F-4D97-AF65-F5344CB8AC3E}">
        <p14:creationId xmlns:p14="http://schemas.microsoft.com/office/powerpoint/2010/main" val="479890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464</TotalTime>
  <Words>1787</Words>
  <Application>Microsoft Office PowerPoint</Application>
  <PresentationFormat>Widescreen</PresentationFormat>
  <Paragraphs>168</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Bioinformatics</vt:lpstr>
      <vt:lpstr>Udyog Saarthi: A Progressive Web Application for Accessible Job Guidance for Adults with Disabilities</vt:lpstr>
      <vt:lpstr>Content</vt:lpstr>
      <vt:lpstr>Introduction</vt:lpstr>
      <vt:lpstr>Literature Survey</vt:lpstr>
      <vt:lpstr>Problem Statement Number: PSCS_39 </vt:lpstr>
      <vt:lpstr>System Model</vt:lpstr>
      <vt:lpstr>Result</vt:lpstr>
      <vt:lpstr>Conclusion</vt:lpstr>
      <vt:lpstr>References</vt:lpstr>
      <vt:lpstr>Github Link</vt:lpstr>
      <vt:lpstr>Timeline of the Project (Gantt Chart)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Khushi Yadav</cp:lastModifiedBy>
  <cp:revision>46</cp:revision>
  <dcterms:modified xsi:type="dcterms:W3CDTF">2025-11-26T08:47:49Z</dcterms:modified>
</cp:coreProperties>
</file>